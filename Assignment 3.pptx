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57" r:id="rId21"/>
    <p:sldId id="28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3184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44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637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47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93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46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12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64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28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89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870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828FB77-E70B-4C54-B0D3-0B389BF87F55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BEB485A-CC5F-4B1C-BAAC-359C8C179F9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283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869495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Fundamental Prompting Techniques, Advanced Prompting Strategies &amp; Mixture-of-Experts (</a:t>
            </a:r>
            <a:r>
              <a:rPr lang="en-US" dirty="0" err="1"/>
              <a:t>MoE</a:t>
            </a:r>
            <a:r>
              <a:rPr lang="en-US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49169"/>
            <a:ext cx="9144000" cy="1655762"/>
          </a:xfrm>
        </p:spPr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Misha</a:t>
            </a:r>
            <a:r>
              <a:rPr lang="en-US" dirty="0" smtClean="0"/>
              <a:t> </a:t>
            </a:r>
            <a:r>
              <a:rPr lang="en-US" dirty="0" err="1" smtClean="0"/>
              <a:t>Sikandar</a:t>
            </a:r>
            <a:endParaRPr lang="en-US" dirty="0" smtClean="0"/>
          </a:p>
          <a:p>
            <a:r>
              <a:rPr lang="en-US" dirty="0" smtClean="0"/>
              <a:t>Roll.no: 00495283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149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Prompting?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07588"/>
            <a:ext cx="498412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Prompting = giving instructions to an AI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wording affects the quality of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prompt = better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Think of it as “telling AI exactly what you want”</a:t>
            </a:r>
          </a:p>
        </p:txBody>
      </p:sp>
    </p:spTree>
    <p:extLst>
      <p:ext uri="{BB962C8B-B14F-4D97-AF65-F5344CB8AC3E}">
        <p14:creationId xmlns:p14="http://schemas.microsoft.com/office/powerpoint/2010/main" val="118334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Prompting </a:t>
            </a:r>
            <a:r>
              <a:rPr lang="en-US" b="1" dirty="0" smtClean="0"/>
              <a:t>Matters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62983"/>
            <a:ext cx="34324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AI understand your need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Saves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Gives consistent results</a:t>
            </a:r>
          </a:p>
        </p:txBody>
      </p:sp>
    </p:spTree>
    <p:extLst>
      <p:ext uri="{BB962C8B-B14F-4D97-AF65-F5344CB8AC3E}">
        <p14:creationId xmlns:p14="http://schemas.microsoft.com/office/powerpoint/2010/main" val="595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Fundamental Prompting </a:t>
            </a:r>
            <a:r>
              <a:rPr lang="en-US" b="1" dirty="0" smtClean="0"/>
              <a:t>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    </a:t>
            </a:r>
            <a:r>
              <a:rPr lang="en-US" b="1" dirty="0" smtClean="0"/>
              <a:t>Technique </a:t>
            </a:r>
            <a:r>
              <a:rPr lang="en-US" b="1" dirty="0"/>
              <a:t>1: Clear Instructions</a:t>
            </a:r>
          </a:p>
          <a:p>
            <a:r>
              <a:rPr lang="en-US" dirty="0"/>
              <a:t>Use simple, direct sentences</a:t>
            </a:r>
          </a:p>
          <a:p>
            <a:r>
              <a:rPr lang="en-US" dirty="0"/>
              <a:t>Avoid vague words</a:t>
            </a:r>
            <a:br>
              <a:rPr lang="en-US" dirty="0"/>
            </a:br>
            <a:r>
              <a:rPr lang="en-US" dirty="0"/>
              <a:t>✔ </a:t>
            </a:r>
            <a:r>
              <a:rPr lang="en-US" i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b="1" dirty="0"/>
              <a:t>Bad:</a:t>
            </a:r>
            <a:r>
              <a:rPr lang="en-US" dirty="0"/>
              <a:t> “Explain”</a:t>
            </a:r>
            <a:br>
              <a:rPr lang="en-US" dirty="0"/>
            </a:br>
            <a:r>
              <a:rPr lang="en-US" b="1" dirty="0"/>
              <a:t>Good:</a:t>
            </a:r>
            <a:r>
              <a:rPr lang="en-US" dirty="0"/>
              <a:t> “Explain cloud computing in 3 simple bullet points.”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284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2: Provide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context = better answers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“Explain this code. It is written in Python and used in a web app.”</a:t>
            </a:r>
          </a:p>
        </p:txBody>
      </p:sp>
    </p:spTree>
    <p:extLst>
      <p:ext uri="{BB962C8B-B14F-4D97-AF65-F5344CB8AC3E}">
        <p14:creationId xmlns:p14="http://schemas.microsoft.com/office/powerpoint/2010/main" val="1403103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3: Specify Output Format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the AI how the answer should look</a:t>
            </a:r>
            <a:br>
              <a:rPr lang="en-US" dirty="0"/>
            </a:br>
            <a:r>
              <a:rPr lang="en-US" dirty="0"/>
              <a:t>✔ Example formats:</a:t>
            </a:r>
          </a:p>
          <a:p>
            <a:r>
              <a:rPr lang="en-US" dirty="0"/>
              <a:t>Bullet points</a:t>
            </a:r>
          </a:p>
          <a:p>
            <a:r>
              <a:rPr lang="en-US" dirty="0"/>
              <a:t>Table</a:t>
            </a:r>
          </a:p>
          <a:p>
            <a:r>
              <a:rPr lang="en-US" dirty="0"/>
              <a:t>Step-by-step</a:t>
            </a:r>
          </a:p>
          <a:p>
            <a:r>
              <a:rPr lang="en-US" dirty="0"/>
              <a:t>Short summary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45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4: Give Examples (Few-Shot Prompting)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Show AI a sample of what you want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“Here is an example summary. Make mine similar.”</a:t>
            </a:r>
          </a:p>
        </p:txBody>
      </p:sp>
    </p:spTree>
    <p:extLst>
      <p:ext uri="{BB962C8B-B14F-4D97-AF65-F5344CB8AC3E}">
        <p14:creationId xmlns:p14="http://schemas.microsoft.com/office/powerpoint/2010/main" val="22433344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5: Role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 a role to guide behavior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“You are an English teacher. Correct my grammar.”</a:t>
            </a:r>
          </a:p>
        </p:txBody>
      </p:sp>
    </p:spTree>
    <p:extLst>
      <p:ext uri="{BB962C8B-B14F-4D97-AF65-F5344CB8AC3E}">
        <p14:creationId xmlns:p14="http://schemas.microsoft.com/office/powerpoint/2010/main" val="4179247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Technique 6: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Set limitations to avoid bad output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“Write in less than 100 words.”</a:t>
            </a:r>
          </a:p>
        </p:txBody>
      </p:sp>
    </p:spTree>
    <p:extLst>
      <p:ext uri="{BB962C8B-B14F-4D97-AF65-F5344CB8AC3E}">
        <p14:creationId xmlns:p14="http://schemas.microsoft.com/office/powerpoint/2010/main" val="3126840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Prompting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Strategy 1: Chain-of-Thought (</a:t>
            </a:r>
            <a:r>
              <a:rPr lang="en-US" b="1" dirty="0" err="1"/>
              <a:t>CoT</a:t>
            </a:r>
            <a:r>
              <a:rPr lang="en-US" b="1" dirty="0"/>
              <a:t>)</a:t>
            </a:r>
          </a:p>
          <a:p>
            <a:r>
              <a:rPr lang="en-US" dirty="0"/>
              <a:t>Ask AI to think step-by-step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“Explain your reasoning step-by-step before giving the final answer.”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2: Deliberate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AI to generate multiple solutions and pick the best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“Generate 3 ideas and choose the strongest one.”</a:t>
            </a:r>
          </a:p>
        </p:txBody>
      </p:sp>
    </p:spTree>
    <p:extLst>
      <p:ext uri="{BB962C8B-B14F-4D97-AF65-F5344CB8AC3E}">
        <p14:creationId xmlns:p14="http://schemas.microsoft.com/office/powerpoint/2010/main" val="2935148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3: </a:t>
            </a:r>
            <a:r>
              <a:rPr lang="en-US" dirty="0" err="1"/>
              <a:t>ReAct</a:t>
            </a:r>
            <a:r>
              <a:rPr lang="en-US" dirty="0"/>
              <a:t>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Combines </a:t>
            </a:r>
            <a:r>
              <a:rPr lang="en-US" b="1" dirty="0"/>
              <a:t>Reasoning + Action</a:t>
            </a:r>
            <a:endParaRPr lang="en-US" dirty="0"/>
          </a:p>
          <a:p>
            <a:r>
              <a:rPr lang="en-US" dirty="0"/>
              <a:t>AI thinks, takes actions, then answers</a:t>
            </a:r>
            <a:br>
              <a:rPr lang="en-US" dirty="0"/>
            </a:br>
            <a:r>
              <a:rPr lang="en-US" dirty="0"/>
              <a:t>✔ Useful in: search tasks, agents, tools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89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4: Self-Consistency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33852"/>
            <a:ext cx="390683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generates many reasoning paths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Chooses the most common answer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Good for complex logic problems</a:t>
            </a:r>
          </a:p>
        </p:txBody>
      </p:sp>
    </p:spTree>
    <p:extLst>
      <p:ext uri="{BB962C8B-B14F-4D97-AF65-F5344CB8AC3E}">
        <p14:creationId xmlns:p14="http://schemas.microsoft.com/office/powerpoint/2010/main" val="3380452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5: Prompt Chaining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a big task into small prompts</a:t>
            </a:r>
            <a:br>
              <a:rPr lang="en-US" dirty="0"/>
            </a:br>
            <a:r>
              <a:rPr lang="en-US" dirty="0"/>
              <a:t>✔ Example:</a:t>
            </a:r>
          </a:p>
          <a:p>
            <a:r>
              <a:rPr lang="en-US" dirty="0"/>
              <a:t>Generate outline</a:t>
            </a:r>
          </a:p>
          <a:p>
            <a:r>
              <a:rPr lang="en-US" dirty="0"/>
              <a:t>Expand outline</a:t>
            </a:r>
          </a:p>
          <a:p>
            <a:r>
              <a:rPr lang="en-US" dirty="0"/>
              <a:t>Format into slides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698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 6: Style &amp; Tone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tone: formal, friendly, academic</a:t>
            </a:r>
            <a:br>
              <a:rPr lang="en-US" dirty="0"/>
            </a:br>
            <a:r>
              <a:rPr lang="en-US" dirty="0"/>
              <a:t>✔ Example:</a:t>
            </a:r>
            <a:br>
              <a:rPr lang="en-US" dirty="0"/>
            </a:br>
            <a:r>
              <a:rPr lang="en-US" dirty="0"/>
              <a:t>“Explain in a friendly tone suitable for beginners.”</a:t>
            </a:r>
          </a:p>
        </p:txBody>
      </p:sp>
    </p:spTree>
    <p:extLst>
      <p:ext uri="{BB962C8B-B14F-4D97-AF65-F5344CB8AC3E}">
        <p14:creationId xmlns:p14="http://schemas.microsoft.com/office/powerpoint/2010/main" val="30863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Mixture-of-Experts (</a:t>
            </a:r>
            <a:r>
              <a:rPr lang="en-US" dirty="0" err="1"/>
              <a:t>MoE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modern AI </a:t>
            </a:r>
            <a:r>
              <a:rPr lang="en-US" dirty="0" smtClean="0"/>
              <a:t>architecture </a:t>
            </a:r>
            <a:r>
              <a:rPr lang="en-US" dirty="0"/>
              <a:t>that improves speed and accuracy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 What </a:t>
            </a:r>
            <a:r>
              <a:rPr lang="en-US" b="1" dirty="0"/>
              <a:t>is Mixture-of-Experts?</a:t>
            </a:r>
          </a:p>
          <a:p>
            <a:r>
              <a:rPr lang="en-US" dirty="0"/>
              <a:t>Instead of one large model → several small “experts”</a:t>
            </a:r>
          </a:p>
          <a:p>
            <a:r>
              <a:rPr lang="en-US" dirty="0"/>
              <a:t>Each expert handles different types of tasks</a:t>
            </a:r>
          </a:p>
          <a:p>
            <a:r>
              <a:rPr lang="en-US" dirty="0"/>
              <a:t>A </a:t>
            </a:r>
            <a:r>
              <a:rPr lang="en-US" b="1" dirty="0"/>
              <a:t>router</a:t>
            </a:r>
            <a:r>
              <a:rPr lang="en-US" dirty="0"/>
              <a:t> picks the right expert for each question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244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MoE</a:t>
            </a:r>
            <a:r>
              <a:rPr lang="en-US" dirty="0"/>
              <a:t> is Used?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✔ Faster</a:t>
            </a:r>
            <a:br>
              <a:rPr lang="en-US" dirty="0"/>
            </a:br>
            <a:r>
              <a:rPr lang="en-US" dirty="0"/>
              <a:t>✔ More accurate</a:t>
            </a:r>
            <a:br>
              <a:rPr lang="en-US" dirty="0"/>
            </a:br>
            <a:r>
              <a:rPr lang="en-US" dirty="0"/>
              <a:t>✔ More specialized</a:t>
            </a:r>
            <a:br>
              <a:rPr lang="en-US" dirty="0"/>
            </a:br>
            <a:r>
              <a:rPr lang="en-US" dirty="0"/>
              <a:t>✔ Saves compute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62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MoE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ask:</a:t>
            </a:r>
          </a:p>
          <a:p>
            <a:r>
              <a:rPr lang="en-US" dirty="0"/>
              <a:t>Coding question → coding expert</a:t>
            </a:r>
          </a:p>
          <a:p>
            <a:r>
              <a:rPr lang="en-US" dirty="0"/>
              <a:t>Math question → math expert</a:t>
            </a:r>
          </a:p>
          <a:p>
            <a:r>
              <a:rPr lang="en-US" dirty="0"/>
              <a:t>Essay writing → writing expert</a:t>
            </a:r>
          </a:p>
          <a:p>
            <a:r>
              <a:rPr lang="en-US" dirty="0"/>
              <a:t>AI routes the task to the right expert automatically.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9636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</a:t>
            </a:r>
            <a:r>
              <a:rPr lang="en-US" dirty="0" err="1"/>
              <a:t>MoE</a:t>
            </a:r>
            <a:r>
              <a:rPr lang="en-US" dirty="0"/>
              <a:t> in LLMs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51471"/>
            <a:ext cx="62280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More efficient model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performance on diverse tasks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for large workloads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by modern models like Gemini, GPT-4 </a:t>
            </a: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versions</a:t>
            </a:r>
          </a:p>
        </p:txBody>
      </p:sp>
    </p:spTree>
    <p:extLst>
      <p:ext uri="{BB962C8B-B14F-4D97-AF65-F5344CB8AC3E}">
        <p14:creationId xmlns:p14="http://schemas.microsoft.com/office/powerpoint/2010/main" val="2911982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240762"/>
              </p:ext>
            </p:extLst>
          </p:nvPr>
        </p:nvGraphicFramePr>
        <p:xfrm>
          <a:off x="1318321" y="703867"/>
          <a:ext cx="9331093" cy="51896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/>
                <a:gridCol w="1486416"/>
                <a:gridCol w="1222918"/>
                <a:gridCol w="1419921"/>
                <a:gridCol w="1650381"/>
                <a:gridCol w="2196790"/>
              </a:tblGrid>
              <a:tr h="34337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Version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Goal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Model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Temperature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Output quality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Notes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Provide a quick, direct</a:t>
                      </a:r>
                      <a:r>
                        <a:rPr lang="en-US" sz="1600" baseline="0" dirty="0" smtClean="0"/>
                        <a:t> personalized diet plan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Gemini-2.5-pro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Default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Basic, straightforward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 clarifying questions, simple assumptions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V1.1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Friendly, easy-to-follow diet plan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Gemini-2.5-pro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Default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Friendly and readable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Tone changed for engagement, still simple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V1.2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Structured diet plan with meal sections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Gemini-2.5-pro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Default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Clear and organized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Sections: Breakfast, Mid-morning Snack, Lunch, Evening Snack, Dinner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V1.3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Creative and slightly engaging diet plan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Gemini-2.5-pro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Creative, engaging, practical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Run in CLI with --temperature 0.9 for more creativity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V1.4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Professional, dietitian-style diet plan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Gemini-2.5-pro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0.2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Highly professional, clinically accurate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Formal tone, nutritional balance, portion guidance, use --temperature 0.2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248614" y="334535"/>
            <a:ext cx="3010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4. Create a Testing Framework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207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38908" y="2910468"/>
            <a:ext cx="2754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 smtClean="0"/>
              <a:t>Thank you!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273523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92</TotalTime>
  <Words>466</Words>
  <Application>Microsoft Office PowerPoint</Application>
  <PresentationFormat>Widescreen</PresentationFormat>
  <Paragraphs>107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Tw Cen MT</vt:lpstr>
      <vt:lpstr>Tw Cen MT Condensed</vt:lpstr>
      <vt:lpstr>Wingdings 3</vt:lpstr>
      <vt:lpstr>Integral</vt:lpstr>
      <vt:lpstr>Fundamental Prompting Techniques, Advanced Prompting Strategies &amp; Mixture-of-Experts (MoE)</vt:lpstr>
      <vt:lpstr>What is Prompting?</vt:lpstr>
      <vt:lpstr>Why Prompting Matters</vt:lpstr>
      <vt:lpstr>Fundamental Prompting Techniques</vt:lpstr>
      <vt:lpstr>Technique 2: Provide Context</vt:lpstr>
      <vt:lpstr>Technique 3: Specify Output Format</vt:lpstr>
      <vt:lpstr>Technique 4: Give Examples (Few-Shot Prompting)</vt:lpstr>
      <vt:lpstr>Technique 5: Role Prompting</vt:lpstr>
      <vt:lpstr>Technique 6: Constraints</vt:lpstr>
      <vt:lpstr>Advanced Prompting Strategies</vt:lpstr>
      <vt:lpstr>Strategy 2: Deliberate Prompting</vt:lpstr>
      <vt:lpstr>Strategy 3: ReAct Prompting</vt:lpstr>
      <vt:lpstr>Strategy 4: Self-Consistency</vt:lpstr>
      <vt:lpstr>Strategy 5: Prompt Chaining</vt:lpstr>
      <vt:lpstr>Strategy 6: Style &amp; Tone Control</vt:lpstr>
      <vt:lpstr>Mixture-of-Experts (MoE)</vt:lpstr>
      <vt:lpstr>Why MoE is Used?</vt:lpstr>
      <vt:lpstr>Example of MoE</vt:lpstr>
      <vt:lpstr>Benefits of MoE in LLMs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12</cp:revision>
  <dcterms:created xsi:type="dcterms:W3CDTF">2025-11-17T14:34:28Z</dcterms:created>
  <dcterms:modified xsi:type="dcterms:W3CDTF">2025-11-18T15:28:47Z</dcterms:modified>
</cp:coreProperties>
</file>