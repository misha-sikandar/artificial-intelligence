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65" autoAdjust="0"/>
    <p:restoredTop sz="94660"/>
  </p:normalViewPr>
  <p:slideViewPr>
    <p:cSldViewPr snapToGrid="0">
      <p:cViewPr varScale="1">
        <p:scale>
          <a:sx n="74" d="100"/>
          <a:sy n="74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077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67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600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27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85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3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8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2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24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287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85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4148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80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658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82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92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73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9295649-4782-4216-845F-E5C386FC982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DBD60-458B-477E-A2F0-62A964804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125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Bahnschrift Light" panose="020B0502040204020203" pitchFamily="34" charset="0"/>
              </a:rPr>
              <a:t>Evolution Of Artificial Intelligence</a:t>
            </a:r>
            <a:endParaRPr lang="en-US" dirty="0">
              <a:latin typeface="Bahnschrift Light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Bahnschrift Light" panose="020B0502040204020203" pitchFamily="34" charset="0"/>
              </a:rPr>
              <a:t>From Early Foundations to </a:t>
            </a:r>
            <a:r>
              <a:rPr lang="en-US" dirty="0" err="1" smtClean="0">
                <a:latin typeface="Bahnschrift Light" panose="020B0502040204020203" pitchFamily="34" charset="0"/>
              </a:rPr>
              <a:t>Agentic</a:t>
            </a:r>
            <a:r>
              <a:rPr lang="en-US" dirty="0" smtClean="0">
                <a:latin typeface="Bahnschrift Light" panose="020B0502040204020203" pitchFamily="34" charset="0"/>
              </a:rPr>
              <a:t> AI</a:t>
            </a:r>
            <a:endParaRPr lang="en-US" dirty="0">
              <a:latin typeface="Bahnschrift Light" panose="020B0502040204020203" pitchFamily="34" charset="0"/>
            </a:endParaRPr>
          </a:p>
          <a:p>
            <a:endParaRPr lang="en-US" dirty="0" smtClean="0">
              <a:latin typeface="Bahnschrift Light" panose="020B0502040204020203" pitchFamily="34" charset="0"/>
            </a:endParaRPr>
          </a:p>
          <a:p>
            <a:r>
              <a:rPr lang="en-US" dirty="0" smtClean="0">
                <a:latin typeface="Bahnschrift Light" panose="020B0502040204020203" pitchFamily="34" charset="0"/>
              </a:rPr>
              <a:t>Name: </a:t>
            </a:r>
            <a:r>
              <a:rPr lang="en-US" dirty="0" err="1" smtClean="0">
                <a:latin typeface="Bahnschrift Light" panose="020B0502040204020203" pitchFamily="34" charset="0"/>
              </a:rPr>
              <a:t>Misha</a:t>
            </a:r>
            <a:r>
              <a:rPr lang="en-US" dirty="0" smtClean="0">
                <a:latin typeface="Bahnschrift Light" panose="020B0502040204020203" pitchFamily="34" charset="0"/>
              </a:rPr>
              <a:t> </a:t>
            </a:r>
            <a:r>
              <a:rPr lang="en-US" dirty="0" err="1" smtClean="0">
                <a:latin typeface="Bahnschrift Light" panose="020B0502040204020203" pitchFamily="34" charset="0"/>
              </a:rPr>
              <a:t>Sikandar</a:t>
            </a:r>
            <a:endParaRPr lang="en-US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783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ahnschrift Light" panose="020B0502040204020203" pitchFamily="34" charset="0"/>
              </a:rPr>
              <a:t>What is Artificial Intelligence (AI)?</a:t>
            </a:r>
            <a:endParaRPr lang="en-US" dirty="0">
              <a:latin typeface="Bahnschrift Ligh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Bahnschrift Light" panose="020B0502040204020203" pitchFamily="34" charset="0"/>
              </a:rPr>
              <a:t>AI means making computers think and learn like humans.</a:t>
            </a:r>
          </a:p>
          <a:p>
            <a:r>
              <a:rPr lang="en-US" sz="2400" dirty="0" smtClean="0">
                <a:latin typeface="Bahnschrift Light" panose="020B0502040204020203" pitchFamily="34" charset="0"/>
              </a:rPr>
              <a:t>AI helps machines:</a:t>
            </a:r>
          </a:p>
          <a:p>
            <a:pPr lvl="1"/>
            <a:r>
              <a:rPr lang="en-US" dirty="0" smtClean="0">
                <a:latin typeface="Bahnschrift Light" panose="020B0502040204020203" pitchFamily="34" charset="0"/>
              </a:rPr>
              <a:t>Learn from data</a:t>
            </a:r>
          </a:p>
          <a:p>
            <a:pPr lvl="1"/>
            <a:r>
              <a:rPr lang="en-US" dirty="0" smtClean="0">
                <a:latin typeface="Bahnschrift Light" panose="020B0502040204020203" pitchFamily="34" charset="0"/>
              </a:rPr>
              <a:t>Solve problems</a:t>
            </a:r>
          </a:p>
          <a:p>
            <a:pPr lvl="1"/>
            <a:r>
              <a:rPr lang="en-US" dirty="0" smtClean="0">
                <a:latin typeface="Bahnschrift Light" panose="020B0502040204020203" pitchFamily="34" charset="0"/>
              </a:rPr>
              <a:t>Understand language</a:t>
            </a:r>
          </a:p>
          <a:p>
            <a:pPr lvl="1"/>
            <a:r>
              <a:rPr lang="en-US" dirty="0" smtClean="0">
                <a:latin typeface="Bahnschrift Light" panose="020B0502040204020203" pitchFamily="34" charset="0"/>
              </a:rPr>
              <a:t>Make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715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ahnschrift Light" panose="020B0502040204020203" pitchFamily="34" charset="0"/>
              </a:rPr>
              <a:t>Early Beginnings (1940s-1950s)</a:t>
            </a:r>
            <a:endParaRPr lang="en-US" dirty="0">
              <a:latin typeface="Bahnschrift Ligh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Bahnschrift Light" panose="020B0502040204020203" pitchFamily="34" charset="0"/>
              </a:rPr>
              <a:t>Alan Turing (1950): Asked, “Can machines think?”</a:t>
            </a:r>
          </a:p>
          <a:p>
            <a:r>
              <a:rPr lang="en-US" sz="2400" dirty="0" smtClean="0">
                <a:latin typeface="Bahnschrift Light" panose="020B0502040204020203" pitchFamily="34" charset="0"/>
              </a:rPr>
              <a:t>First computers were made to solve simple problems.</a:t>
            </a:r>
          </a:p>
          <a:p>
            <a:r>
              <a:rPr lang="en-US" sz="2400" dirty="0" smtClean="0">
                <a:latin typeface="Bahnschrift Light" panose="020B0502040204020203" pitchFamily="34" charset="0"/>
              </a:rPr>
              <a:t>1956: The term “</a:t>
            </a:r>
            <a:r>
              <a:rPr lang="en-US" sz="2400" i="1" dirty="0" smtClean="0">
                <a:latin typeface="Bahnschrift Light" panose="020B0502040204020203" pitchFamily="34" charset="0"/>
              </a:rPr>
              <a:t>Artificial Intelligence</a:t>
            </a:r>
            <a:r>
              <a:rPr lang="en-US" sz="2400" dirty="0" smtClean="0">
                <a:latin typeface="Bahnschrift Light" panose="020B0502040204020203" pitchFamily="34" charset="0"/>
              </a:rPr>
              <a:t>” was born at the Dartmouth Conference.</a:t>
            </a:r>
            <a:endParaRPr lang="en-US" sz="2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886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Symbolic AI (1950s-1970s)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730199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Early AI used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rules and logic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like:</a:t>
            </a:r>
            <a:b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</a:b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	“If X happens, then do Y.”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Example: Programs solving math or logic puzzles.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Problem: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Couldn’t handle complex real-world data.</a:t>
            </a:r>
          </a:p>
        </p:txBody>
      </p:sp>
    </p:spTree>
    <p:extLst>
      <p:ext uri="{BB962C8B-B14F-4D97-AF65-F5344CB8AC3E}">
        <p14:creationId xmlns:p14="http://schemas.microsoft.com/office/powerpoint/2010/main" val="985587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ahnschrift Light" panose="020B0502040204020203" pitchFamily="34" charset="0"/>
              </a:rPr>
              <a:t>First AI Winter (1970s-1980s)</a:t>
            </a:r>
            <a:endParaRPr lang="en-US" dirty="0">
              <a:latin typeface="Bahnschrift Light" panose="020B0502040204020203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758638"/>
            <a:ext cx="712086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Computers were too slow.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AI didn’t meet big expectations.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Result: Funding and research stopped for a while.</a:t>
            </a:r>
          </a:p>
        </p:txBody>
      </p:sp>
    </p:spTree>
    <p:extLst>
      <p:ext uri="{BB962C8B-B14F-4D97-AF65-F5344CB8AC3E}">
        <p14:creationId xmlns:p14="http://schemas.microsoft.com/office/powerpoint/2010/main" val="2317859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ahnschrift Light" panose="020B0502040204020203" pitchFamily="34" charset="0"/>
              </a:rPr>
              <a:t>Export Systems (1980s)</a:t>
            </a:r>
            <a:endParaRPr lang="en-US" dirty="0">
              <a:latin typeface="Bahnschrift Light" panose="020B0502040204020203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797794"/>
            <a:ext cx="757170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AI returned with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rule-based expert systems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Example: </a:t>
            </a:r>
            <a:r>
              <a:rPr kumimoji="0" 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MYCIN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— helped doctors diagnose diseases.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Limitation: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Couldn’t learn new rules on their own.</a:t>
            </a:r>
          </a:p>
        </p:txBody>
      </p:sp>
    </p:spTree>
    <p:extLst>
      <p:ext uri="{BB962C8B-B14F-4D97-AF65-F5344CB8AC3E}">
        <p14:creationId xmlns:p14="http://schemas.microsoft.com/office/powerpoint/2010/main" val="572341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ahnschrift Light" panose="020B0502040204020203" pitchFamily="34" charset="0"/>
              </a:rPr>
              <a:t>Machine Learning Era (1990s-2010s)</a:t>
            </a:r>
            <a:endParaRPr lang="en-US" dirty="0">
              <a:latin typeface="Bahnschrift Light" panose="020B0502040204020203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72701"/>
            <a:ext cx="1011527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AI started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learning from data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, not rules.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Algorithms like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neural networks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improved.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2012: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A program called </a:t>
            </a:r>
            <a:r>
              <a:rPr kumimoji="0" lang="en-US" sz="24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AlexNet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recognized images better than humans.</a:t>
            </a:r>
          </a:p>
        </p:txBody>
      </p:sp>
    </p:spTree>
    <p:extLst>
      <p:ext uri="{BB962C8B-B14F-4D97-AF65-F5344CB8AC3E}">
        <p14:creationId xmlns:p14="http://schemas.microsoft.com/office/powerpoint/2010/main" val="976962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ahnschrift Light" panose="020B0502040204020203" pitchFamily="34" charset="0"/>
              </a:rPr>
              <a:t>Deep Learning &amp; Big Data</a:t>
            </a:r>
            <a:endParaRPr lang="en-US" dirty="0">
              <a:latin typeface="Bahnschrift Light" panose="020B0502040204020203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19277"/>
            <a:ext cx="901721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AI got smarter with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more data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and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powerful computers (GPUs)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Used in: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Face and voice recognition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Self-driving cars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Translations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18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ahnschrift Light" panose="020B0502040204020203" pitchFamily="34" charset="0"/>
              </a:rPr>
              <a:t>Large Language Models (LLMs)</a:t>
            </a:r>
            <a:endParaRPr lang="en-US" dirty="0">
              <a:latin typeface="Bahnschrift Light" panose="020B0502040204020203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28352" y="1953921"/>
            <a:ext cx="823655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LLMs are AI systems that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read and write human-like text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Examples: 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ChatGPT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, BERT, Claude, Gemini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They can: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Answer questions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Write essays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Help with coding	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Chat naturally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750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ahnschrift Light" panose="020B0502040204020203" pitchFamily="34" charset="0"/>
              </a:rPr>
              <a:t>How LLMs Work</a:t>
            </a:r>
            <a:endParaRPr lang="en-US" dirty="0">
              <a:latin typeface="Bahnschrift Light" panose="020B0502040204020203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23022"/>
            <a:ext cx="536884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Train on text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from books, websites, and articles.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Break text into tokens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(small word pieces).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Learn patterns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— which word comes next.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Use 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Transformer model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to understand context.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Finally, generate new text like humans write!</a:t>
            </a:r>
          </a:p>
        </p:txBody>
      </p:sp>
    </p:spTree>
    <p:extLst>
      <p:ext uri="{BB962C8B-B14F-4D97-AF65-F5344CB8AC3E}">
        <p14:creationId xmlns:p14="http://schemas.microsoft.com/office/powerpoint/2010/main" val="541959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8552"/>
            <a:ext cx="10515600" cy="1325563"/>
          </a:xfrm>
        </p:spPr>
        <p:txBody>
          <a:bodyPr/>
          <a:lstStyle/>
          <a:p>
            <a:r>
              <a:rPr lang="en-US" dirty="0">
                <a:latin typeface="Bahnschrift Light" panose="020B0502040204020203" pitchFamily="34" charset="0"/>
              </a:rPr>
              <a:t>Key Breakthroughs Behind LLMs</a:t>
            </a:r>
            <a:endParaRPr lang="en-US" dirty="0">
              <a:latin typeface="Bahnschrift Light" panose="020B0502040204020203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68201"/>
            <a:ext cx="611898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2017: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Transformer model (Attention Is All You Need).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Powerful GPUs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= faster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Massive datasets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= smarter AI.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RLHF (Human Feedback)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= more natural conversations.</a:t>
            </a:r>
          </a:p>
        </p:txBody>
      </p:sp>
    </p:spTree>
    <p:extLst>
      <p:ext uri="{BB962C8B-B14F-4D97-AF65-F5344CB8AC3E}">
        <p14:creationId xmlns:p14="http://schemas.microsoft.com/office/powerpoint/2010/main" val="4017069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Bahnschrift Light" panose="020B0502040204020203" pitchFamily="34" charset="0"/>
              </a:rPr>
              <a:t>Agentic</a:t>
            </a:r>
            <a:r>
              <a:rPr lang="en-US" dirty="0">
                <a:latin typeface="Bahnschrift Light" panose="020B0502040204020203" pitchFamily="34" charset="0"/>
              </a:rPr>
              <a:t> AI (2023–Present)</a:t>
            </a:r>
            <a:endParaRPr lang="en-US" dirty="0">
              <a:latin typeface="Bahnschrift Light" panose="020B0502040204020203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158874"/>
            <a:ext cx="530485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Agentic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AI =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AI that can think, plan, and act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It can: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Use tools (e.g., internet, APIs)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Remember tasks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Make small decisions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Examples: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AutoGPT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LangChain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,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OpenAI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Agents.</a:t>
            </a:r>
          </a:p>
        </p:txBody>
      </p:sp>
    </p:spTree>
    <p:extLst>
      <p:ext uri="{BB962C8B-B14F-4D97-AF65-F5344CB8AC3E}">
        <p14:creationId xmlns:p14="http://schemas.microsoft.com/office/powerpoint/2010/main" val="4121512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" panose="020B0502040204020203" pitchFamily="34" charset="0"/>
              </a:rPr>
              <a:t>The Future of AI</a:t>
            </a:r>
            <a:endParaRPr lang="en-US" dirty="0">
              <a:latin typeface="Bahnschrift Light" panose="020B0502040204020203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16685"/>
            <a:ext cx="458971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Smarter assistants and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AI working alongside humans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Focus on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safety, ethics, and creativity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More personalized and helpful AI systems</a:t>
            </a:r>
          </a:p>
        </p:txBody>
      </p:sp>
    </p:spTree>
    <p:extLst>
      <p:ext uri="{BB962C8B-B14F-4D97-AF65-F5344CB8AC3E}">
        <p14:creationId xmlns:p14="http://schemas.microsoft.com/office/powerpoint/2010/main" val="3090136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" panose="020B0502040204020203" pitchFamily="34" charset="0"/>
              </a:rPr>
              <a:t>Conclusion</a:t>
            </a:r>
            <a:endParaRPr lang="en-US" dirty="0">
              <a:latin typeface="Bahnschrift Light" panose="020B0502040204020203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039137"/>
            <a:ext cx="678903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AI has grown from simple rules to powerful learning machines.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Today’s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Agentic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AI can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act, plan, and assist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 in real life.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Ligh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The journey of AI is still continuing!</a:t>
            </a:r>
          </a:p>
        </p:txBody>
      </p:sp>
    </p:spTree>
    <p:extLst>
      <p:ext uri="{BB962C8B-B14F-4D97-AF65-F5344CB8AC3E}">
        <p14:creationId xmlns:p14="http://schemas.microsoft.com/office/powerpoint/2010/main" val="13744678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</TotalTime>
  <Words>441</Words>
  <Application>Microsoft Office PowerPoint</Application>
  <PresentationFormat>Widescreen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Bahnschrift Light</vt:lpstr>
      <vt:lpstr>Century Gothic</vt:lpstr>
      <vt:lpstr>Wingdings 3</vt:lpstr>
      <vt:lpstr>Ion</vt:lpstr>
      <vt:lpstr>Evolution Of Artificial Intelligence</vt:lpstr>
      <vt:lpstr>What is Artificial Intelligence (AI)?</vt:lpstr>
      <vt:lpstr>Early Beginnings (1940s-1950s)</vt:lpstr>
      <vt:lpstr>Symbolic AI (1950s-1970s)</vt:lpstr>
      <vt:lpstr>First AI Winter (1970s-1980s)</vt:lpstr>
      <vt:lpstr>Export Systems (1980s)</vt:lpstr>
      <vt:lpstr>Machine Learning Era (1990s-2010s)</vt:lpstr>
      <vt:lpstr>Deep Learning &amp; Big Data</vt:lpstr>
      <vt:lpstr>Large Language Models (LLMs)</vt:lpstr>
      <vt:lpstr>How LLMs Work</vt:lpstr>
      <vt:lpstr>Key Breakthroughs Behind LLMs</vt:lpstr>
      <vt:lpstr>Agentic AI (2023–Present)</vt:lpstr>
      <vt:lpstr>The Future of AI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 Of Artificial Intelligence</dc:title>
  <dc:creator>User</dc:creator>
  <cp:lastModifiedBy>User</cp:lastModifiedBy>
  <cp:revision>7</cp:revision>
  <dcterms:created xsi:type="dcterms:W3CDTF">2025-10-28T18:10:05Z</dcterms:created>
  <dcterms:modified xsi:type="dcterms:W3CDTF">2025-10-29T16:27:03Z</dcterms:modified>
</cp:coreProperties>
</file>